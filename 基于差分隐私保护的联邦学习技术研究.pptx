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1.svg" ContentType="image/svg+xml"/>
  <Override PartName="/ppt/media/image14.svg" ContentType="image/svg+xml"/>
  <Override PartName="/ppt/media/image16.svg" ContentType="image/svg+xml"/>
  <Override PartName="/ppt/media/image18.svg" ContentType="image/svg+xml"/>
  <Override PartName="/ppt/media/image2.svg" ContentType="image/svg+xml"/>
  <Override PartName="/ppt/media/image20.svg" ContentType="image/svg+xml"/>
  <Override PartName="/ppt/media/image22.svg" ContentType="image/svg+xml"/>
  <Override PartName="/ppt/media/image27.svg" ContentType="image/svg+xml"/>
  <Override PartName="/ppt/media/image29.svg" ContentType="image/svg+xml"/>
  <Override PartName="/ppt/media/image31.svg" ContentType="image/svg+xml"/>
  <Override PartName="/ppt/media/image33.svg" ContentType="image/svg+xml"/>
  <Override PartName="/ppt/media/image35.svg" ContentType="image/svg+xml"/>
  <Override PartName="/ppt/media/image4.svg" ContentType="image/svg+xml"/>
  <Override PartName="/ppt/media/image6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</p:sldMasterIdLst>
  <p:notesMasterIdLst>
    <p:notesMasterId r:id="rId5"/>
  </p:notesMasterIdLst>
  <p:sldIdLst>
    <p:sldId id="256" r:id="rId4"/>
    <p:sldId id="257" r:id="rId6"/>
    <p:sldId id="259" r:id="rId7"/>
    <p:sldId id="260" r:id="rId8"/>
    <p:sldId id="263" r:id="rId9"/>
    <p:sldId id="264" r:id="rId10"/>
    <p:sldId id="266" r:id="rId11"/>
    <p:sldId id="268" r:id="rId12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587" userDrawn="1">
          <p15:clr>
            <a:srgbClr val="747775"/>
          </p15:clr>
        </p15:guide>
        <p15:guide id="2" pos="2848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587"/>
        <p:guide pos="2848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尊敬的各位老师、同学，大家好。我今天汇报的题目是“基于差分隐私保护的联邦学习技术研究”。本次汇报将严格按照我的选题报告结构展开，希望能清晰地呈现我的研究思路。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本次汇报将分为九个部分，严格遵循选题报告的结构，依次介绍研究背景、意义、现状、目标、方案、进展、成果以及最后的总结。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二个背景是普遍存在的数据孤岛问题。由于商业竞争、隐私顾虑等原因，数据分散在各个机构，无法整合，这极大地限制了AI模型的性能。因此，如何在不转移数据所有权的情况下打破数据孤岛，是另一个关键挑战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联邦学习作为一种解决方案，虽然让数据留在本地，但研究发现其共享的模型梯度仍存在隐私泄露风险。因此，本研究的核心思路，就是要通过引入差分隐私技术，为联邦学习提供更严格的隐私保护，解决这一核心挑战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基于此，我设定了三个研究目标：构建系统、评估权衡、探索参数。核心研究内容包括框架的设计实现、实验的设计评估以及结果的分析优化。通过这两方面的规划，我希望能完整地回答研究问题，达成研究目的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我的技术方案采用中心化联邦学习架构。在这一架构中，服务器负责全局模型的维护和聚合，而客户端则利用本地数据进行训练，并在上传参数前应用差分隐私保护，防止数据泄露。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在具体的技术选型上，我构建了一套高效、可复现的实验环境：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首先，底层框架选择了Flower，它轻量且扩展性强，能很好地支持联邦学习流程的搭建；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其次，深度学习部分基于PyTorch实现，利用其成熟的生态和易用性；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隐私保护方面，集成了Meta开源的Opacus库，能方便地在PyTorch训练流程中加入差分隐私机制。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最后，实验验证将基于MNIST和CIFAR-10这两个经典公开数据集，以确保结果的客观性和可对比性。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当前进展方面，我已完成文献调研、技术选型和环境准备，即将开始代码实现。后续计划将在三周内完成基础框架搭建、差分隐私集成以及实验评估和报告撰写。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最后总结，本研究旨在通过结合差分隐私和联邦学习，解决AI协作中的隐私难题，为构建安全可信的AI应用提供支持。我的汇报到此结束，感谢各位老师和同学的聆听！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/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/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8" name="Shape 3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9" name="Shape 4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0" name="Shape 5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8" Type="http://schemas.openxmlformats.org/officeDocument/2006/relationships/notesSlide" Target="../notesSlides/notesSlide2.xml"/><Relationship Id="rId17" Type="http://schemas.openxmlformats.org/officeDocument/2006/relationships/slideLayout" Target="../slideLayouts/slideLayout12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svg"/><Relationship Id="rId8" Type="http://schemas.openxmlformats.org/officeDocument/2006/relationships/image" Target="../media/image8.png"/><Relationship Id="rId7" Type="http://schemas.openxmlformats.org/officeDocument/2006/relationships/image" Target="../media/image7.jpe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1" Type="http://schemas.openxmlformats.org/officeDocument/2006/relationships/notesSlide" Target="../notesSlides/notesSlide3.xml"/><Relationship Id="rId10" Type="http://schemas.openxmlformats.org/officeDocument/2006/relationships/slideLayout" Target="../slideLayouts/slideLayout12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4.xml"/><Relationship Id="rId6" Type="http://schemas.openxmlformats.org/officeDocument/2006/relationships/slideLayout" Target="../slideLayouts/slideLayout12.xml"/><Relationship Id="rId5" Type="http://schemas.openxmlformats.org/officeDocument/2006/relationships/image" Target="../media/image14.svg"/><Relationship Id="rId4" Type="http://schemas.openxmlformats.org/officeDocument/2006/relationships/image" Target="../media/image13.png"/><Relationship Id="rId3" Type="http://schemas.openxmlformats.org/officeDocument/2006/relationships/image" Target="../media/image12.jpeg"/><Relationship Id="rId2" Type="http://schemas.openxmlformats.org/officeDocument/2006/relationships/image" Target="../media/image11.svg"/><Relationship Id="rId1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5.xml"/><Relationship Id="rId5" Type="http://schemas.openxmlformats.org/officeDocument/2006/relationships/slideLayout" Target="../slideLayouts/slideLayout12.xml"/><Relationship Id="rId4" Type="http://schemas.openxmlformats.org/officeDocument/2006/relationships/image" Target="../media/image18.svg"/><Relationship Id="rId3" Type="http://schemas.openxmlformats.org/officeDocument/2006/relationships/image" Target="../media/image17.png"/><Relationship Id="rId2" Type="http://schemas.openxmlformats.org/officeDocument/2006/relationships/image" Target="../media/image16.svg"/><Relationship Id="rId1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image" Target="../media/image27.svg"/><Relationship Id="rId8" Type="http://schemas.openxmlformats.org/officeDocument/2006/relationships/image" Target="../media/image26.png"/><Relationship Id="rId7" Type="http://schemas.openxmlformats.org/officeDocument/2006/relationships/image" Target="../media/image25.jpeg"/><Relationship Id="rId6" Type="http://schemas.openxmlformats.org/officeDocument/2006/relationships/image" Target="../media/image24.jpeg"/><Relationship Id="rId5" Type="http://schemas.openxmlformats.org/officeDocument/2006/relationships/image" Target="../media/image23.jpeg"/><Relationship Id="rId4" Type="http://schemas.openxmlformats.org/officeDocument/2006/relationships/image" Target="../media/image22.svg"/><Relationship Id="rId3" Type="http://schemas.openxmlformats.org/officeDocument/2006/relationships/image" Target="../media/image21.png"/><Relationship Id="rId2" Type="http://schemas.openxmlformats.org/officeDocument/2006/relationships/image" Target="../media/image20.svg"/><Relationship Id="rId11" Type="http://schemas.openxmlformats.org/officeDocument/2006/relationships/notesSlide" Target="../notesSlides/notesSlide6.xml"/><Relationship Id="rId10" Type="http://schemas.openxmlformats.org/officeDocument/2006/relationships/slideLayout" Target="../slideLayouts/slideLayout12.xml"/><Relationship Id="rId1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7.xml"/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33.svg"/><Relationship Id="rId5" Type="http://schemas.openxmlformats.org/officeDocument/2006/relationships/image" Target="../media/image32.png"/><Relationship Id="rId4" Type="http://schemas.openxmlformats.org/officeDocument/2006/relationships/image" Target="../media/image31.svg"/><Relationship Id="rId3" Type="http://schemas.openxmlformats.org/officeDocument/2006/relationships/image" Target="../media/image30.png"/><Relationship Id="rId2" Type="http://schemas.openxmlformats.org/officeDocument/2006/relationships/image" Target="../media/image29.svg"/><Relationship Id="rId1" Type="http://schemas.openxmlformats.org/officeDocument/2006/relationships/image" Target="../media/image28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35.svg"/><Relationship Id="rId1" Type="http://schemas.openxmlformats.org/officeDocument/2006/relationships/image" Target="../media/image3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152400"/>
          </a:xfrm>
          <a:prstGeom prst="roundRect">
            <a:avLst>
              <a:gd name="adj" fmla="val 0"/>
            </a:avLst>
          </a:prstGeom>
          <a:solidFill>
            <a:srgbClr val="00529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0" y="1778000"/>
            <a:ext cx="12192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基于差分隐私保护的联邦学习技术研究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 flipV="1">
            <a:off x="787400" y="3086100"/>
            <a:ext cx="10598150" cy="76200"/>
          </a:xfrm>
          <a:prstGeom prst="roundRect">
            <a:avLst>
              <a:gd name="adj" fmla="val 0"/>
            </a:avLst>
          </a:prstGeom>
          <a:solidFill>
            <a:srgbClr val="00529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0" y="3683000"/>
            <a:ext cx="1219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5600" b="1" i="0" u="none" strike="noStrike">
                <a:solidFill>
                  <a:srgbClr val="00529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选 题 汇 报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0" y="5080000"/>
            <a:ext cx="12192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162320320</a:t>
            </a:r>
            <a:r>
              <a:rPr lang="zh-CN" altLang="en-US" sz="20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周巍</a:t>
            </a:r>
            <a:r>
              <a:rPr lang="en-US" altLang="zh-CN" sz="20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162320318</a:t>
            </a:r>
            <a:r>
              <a:rPr lang="zh-CN" altLang="en-US" sz="20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冷睿</a:t>
            </a:r>
            <a:endParaRPr lang="en-US" sz="1100"/>
          </a:p>
          <a:p>
            <a:pPr indent="0" algn="ctr">
              <a:lnSpc>
                <a:spcPct val="125000"/>
              </a:lnSpc>
            </a:pPr>
            <a:r>
              <a:rPr lang="en-US" sz="1800" b="0" i="0" u="none" strike="noStrike">
                <a:solidFill>
                  <a:srgbClr val="77777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2026年3月</a:t>
            </a:r>
            <a:endParaRPr lang="en-US" sz="1800" b="0" i="0" u="none" strike="noStrike">
              <a:solidFill>
                <a:srgbClr val="77777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0" y="6705600"/>
            <a:ext cx="12192000" cy="152400"/>
          </a:xfrm>
          <a:prstGeom prst="roundRect">
            <a:avLst>
              <a:gd name="adj" fmla="val 0"/>
            </a:avLst>
          </a:prstGeom>
          <a:solidFill>
            <a:srgbClr val="00529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目录</a:t>
            </a:r>
            <a:r>
              <a:rPr lang="en-US" sz="2400" b="0" i="0" u="none" strike="noStrike">
                <a:solidFill>
                  <a:srgbClr val="99999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CONTENTS</a:t>
            </a:r>
            <a:endParaRPr lang="en-US" sz="1100"/>
          </a:p>
        </p:txBody>
      </p:sp>
      <p:sp>
        <p:nvSpPr>
          <p:cNvPr id="3" name="AutoShape 3"/>
          <p:cNvSpPr/>
          <p:nvPr>
            <p:custDataLst>
              <p:tags r:id="rId1"/>
            </p:custDataLst>
          </p:nvPr>
        </p:nvSpPr>
        <p:spPr>
          <a:xfrm>
            <a:off x="844550" y="1651635"/>
            <a:ext cx="2235200" cy="4133850"/>
          </a:xfrm>
          <a:prstGeom prst="roundRect">
            <a:avLst>
              <a:gd name="adj" fmla="val 0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BED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>
            <p:custDataLst>
              <p:tags r:id="rId2"/>
            </p:custDataLst>
          </p:nvPr>
        </p:nvSpPr>
        <p:spPr>
          <a:xfrm>
            <a:off x="762000" y="1651000"/>
            <a:ext cx="76200" cy="4133850"/>
          </a:xfrm>
          <a:prstGeom prst="roundRect">
            <a:avLst>
              <a:gd name="adj" fmla="val 0"/>
            </a:avLst>
          </a:prstGeom>
          <a:solidFill>
            <a:srgbClr val="00529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>
            <p:custDataLst>
              <p:tags r:id="rId3"/>
            </p:custDataLst>
          </p:nvPr>
        </p:nvSpPr>
        <p:spPr>
          <a:xfrm>
            <a:off x="1079500" y="1979930"/>
            <a:ext cx="1117600" cy="74993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0529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</a:t>
            </a:r>
            <a:endParaRPr lang="en-US" sz="1100"/>
          </a:p>
        </p:txBody>
      </p:sp>
      <p:sp>
        <p:nvSpPr>
          <p:cNvPr id="6" name="AutoShape 6"/>
          <p:cNvSpPr/>
          <p:nvPr>
            <p:custDataLst>
              <p:tags r:id="rId4"/>
            </p:custDataLst>
          </p:nvPr>
        </p:nvSpPr>
        <p:spPr>
          <a:xfrm>
            <a:off x="1130300" y="3688080"/>
            <a:ext cx="1841500" cy="685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研究背景与动机</a:t>
            </a:r>
            <a:endParaRPr lang="en-US" sz="1100"/>
          </a:p>
        </p:txBody>
      </p:sp>
      <p:sp>
        <p:nvSpPr>
          <p:cNvPr id="15" name="AutoShape 15"/>
          <p:cNvSpPr/>
          <p:nvPr>
            <p:custDataLst>
              <p:tags r:id="rId5"/>
            </p:custDataLst>
          </p:nvPr>
        </p:nvSpPr>
        <p:spPr>
          <a:xfrm>
            <a:off x="3224530" y="1647825"/>
            <a:ext cx="2371090" cy="4133215"/>
          </a:xfrm>
          <a:prstGeom prst="roundRect">
            <a:avLst>
              <a:gd name="adj" fmla="val 0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BED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>
            <p:custDataLst>
              <p:tags r:id="rId6"/>
            </p:custDataLst>
          </p:nvPr>
        </p:nvSpPr>
        <p:spPr>
          <a:xfrm>
            <a:off x="3224530" y="1647825"/>
            <a:ext cx="76200" cy="4132580"/>
          </a:xfrm>
          <a:prstGeom prst="roundRect">
            <a:avLst>
              <a:gd name="adj" fmla="val 50000"/>
            </a:avLst>
          </a:prstGeom>
          <a:solidFill>
            <a:srgbClr val="00529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>
            <p:custDataLst>
              <p:tags r:id="rId7"/>
            </p:custDataLst>
          </p:nvPr>
        </p:nvSpPr>
        <p:spPr>
          <a:xfrm>
            <a:off x="3804285" y="1979930"/>
            <a:ext cx="1117600" cy="74993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0529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</a:t>
            </a:r>
            <a:endParaRPr lang="en-US" sz="1100"/>
          </a:p>
        </p:txBody>
      </p:sp>
      <p:sp>
        <p:nvSpPr>
          <p:cNvPr id="18" name="AutoShape 18"/>
          <p:cNvSpPr/>
          <p:nvPr>
            <p:custDataLst>
              <p:tags r:id="rId8"/>
            </p:custDataLst>
          </p:nvPr>
        </p:nvSpPr>
        <p:spPr>
          <a:xfrm>
            <a:off x="3427730" y="3688080"/>
            <a:ext cx="1841500" cy="685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研究目标与核心内容</a:t>
            </a:r>
            <a:endParaRPr lang="en-US" sz="1100"/>
          </a:p>
        </p:txBody>
      </p:sp>
      <p:sp>
        <p:nvSpPr>
          <p:cNvPr id="19" name="AutoShape 19"/>
          <p:cNvSpPr/>
          <p:nvPr>
            <p:custDataLst>
              <p:tags r:id="rId9"/>
            </p:custDataLst>
          </p:nvPr>
        </p:nvSpPr>
        <p:spPr>
          <a:xfrm>
            <a:off x="5740400" y="1651000"/>
            <a:ext cx="2552700" cy="4133850"/>
          </a:xfrm>
          <a:prstGeom prst="roundRect">
            <a:avLst>
              <a:gd name="adj" fmla="val 0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BED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>
            <p:custDataLst>
              <p:tags r:id="rId10"/>
            </p:custDataLst>
          </p:nvPr>
        </p:nvSpPr>
        <p:spPr>
          <a:xfrm>
            <a:off x="5740400" y="1650365"/>
            <a:ext cx="76200" cy="4131945"/>
          </a:xfrm>
          <a:prstGeom prst="roundRect">
            <a:avLst>
              <a:gd name="adj" fmla="val 0"/>
            </a:avLst>
          </a:prstGeom>
          <a:solidFill>
            <a:srgbClr val="00529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>
            <p:custDataLst>
              <p:tags r:id="rId11"/>
            </p:custDataLst>
          </p:nvPr>
        </p:nvSpPr>
        <p:spPr>
          <a:xfrm>
            <a:off x="6529070" y="1979930"/>
            <a:ext cx="1117600" cy="74993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0529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</a:t>
            </a:r>
            <a:endParaRPr lang="en-US" sz="1100"/>
          </a:p>
        </p:txBody>
      </p:sp>
      <p:sp>
        <p:nvSpPr>
          <p:cNvPr id="22" name="AutoShape 22"/>
          <p:cNvSpPr/>
          <p:nvPr>
            <p:custDataLst>
              <p:tags r:id="rId12"/>
            </p:custDataLst>
          </p:nvPr>
        </p:nvSpPr>
        <p:spPr>
          <a:xfrm>
            <a:off x="6159500" y="3688080"/>
            <a:ext cx="1841500" cy="685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技术方案与实现路径</a:t>
            </a:r>
            <a:endParaRPr lang="en-US" sz="1100"/>
          </a:p>
        </p:txBody>
      </p:sp>
      <p:sp>
        <p:nvSpPr>
          <p:cNvPr id="27" name="AutoShape 27"/>
          <p:cNvSpPr/>
          <p:nvPr>
            <p:custDataLst>
              <p:tags r:id="rId13"/>
            </p:custDataLst>
          </p:nvPr>
        </p:nvSpPr>
        <p:spPr>
          <a:xfrm>
            <a:off x="8437880" y="1647825"/>
            <a:ext cx="2560955" cy="4134485"/>
          </a:xfrm>
          <a:prstGeom prst="roundRect">
            <a:avLst>
              <a:gd name="adj" fmla="val 0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BED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8" name="AutoShape 28"/>
          <p:cNvSpPr/>
          <p:nvPr>
            <p:custDataLst>
              <p:tags r:id="rId14"/>
            </p:custDataLst>
          </p:nvPr>
        </p:nvSpPr>
        <p:spPr>
          <a:xfrm>
            <a:off x="8433435" y="1650365"/>
            <a:ext cx="76200" cy="4135120"/>
          </a:xfrm>
          <a:prstGeom prst="roundRect">
            <a:avLst>
              <a:gd name="adj" fmla="val 0"/>
            </a:avLst>
          </a:prstGeom>
          <a:solidFill>
            <a:srgbClr val="00529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9" name="AutoShape 29"/>
          <p:cNvSpPr/>
          <p:nvPr>
            <p:custDataLst>
              <p:tags r:id="rId15"/>
            </p:custDataLst>
          </p:nvPr>
        </p:nvSpPr>
        <p:spPr>
          <a:xfrm>
            <a:off x="9253855" y="1979930"/>
            <a:ext cx="1117600" cy="74993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0529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</a:t>
            </a:r>
            <a:endParaRPr lang="en-US" sz="1100"/>
          </a:p>
        </p:txBody>
      </p:sp>
      <p:sp>
        <p:nvSpPr>
          <p:cNvPr id="30" name="AutoShape 30"/>
          <p:cNvSpPr/>
          <p:nvPr>
            <p:custDataLst>
              <p:tags r:id="rId16"/>
            </p:custDataLst>
          </p:nvPr>
        </p:nvSpPr>
        <p:spPr>
          <a:xfrm>
            <a:off x="8942070" y="3688080"/>
            <a:ext cx="1841500" cy="685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当前进展与后续计划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研究背景与动机：数据孤岛问题普遍存在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397000"/>
            <a:ext cx="5334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在金融、医疗、政务等关键领域，海量高价值数据往往分散存储、独立管理于不同机构或组织内部，彼此之间无法顺畅流通，最终形成了阻碍数字经济发展的“数据孤岛”。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2413000"/>
            <a:ext cx="1651000" cy="1905000"/>
          </a:xfrm>
          <a:prstGeom prst="roundRect">
            <a:avLst>
              <a:gd name="adj" fmla="val 6153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52500" y="2603500"/>
            <a:ext cx="304800" cy="3048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333500" y="2603500"/>
            <a:ext cx="952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商业竞争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889000" y="3175000"/>
            <a:ext cx="1397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1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企业视数据为核心战略资产，为维持竞争优势，通常缺乏共享意愿。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2603500" y="2413000"/>
            <a:ext cx="1651000" cy="1905000"/>
          </a:xfrm>
          <a:prstGeom prst="roundRect">
            <a:avLst>
              <a:gd name="adj" fmla="val 6153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794000" y="2603500"/>
            <a:ext cx="304800" cy="3048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3175000" y="2603500"/>
            <a:ext cx="101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隐私安全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2730500" y="3175000"/>
            <a:ext cx="1397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1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担心数据流通导致敏感信息泄露，从而引发法律纠纷与企业声誉受损。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4445000" y="2413000"/>
            <a:ext cx="1651000" cy="1905000"/>
          </a:xfrm>
          <a:prstGeom prst="roundRect">
            <a:avLst>
              <a:gd name="adj" fmla="val 6153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35500" y="2603500"/>
            <a:ext cx="304800" cy="3048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5016500" y="2603500"/>
            <a:ext cx="101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技术壁垒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4572000" y="3175000"/>
            <a:ext cx="1397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1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数据格式、存储系统和接口标准不统一，增加了数据整合的技术难度。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762000" y="4572000"/>
            <a:ext cx="5334000" cy="1016000"/>
          </a:xfrm>
          <a:prstGeom prst="roundRect">
            <a:avLst>
              <a:gd name="adj" fmla="val 12500"/>
            </a:avLst>
          </a:prstGeom>
          <a:solidFill>
            <a:srgbClr val="EFF6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762000" y="4572000"/>
            <a:ext cx="76200" cy="1016000"/>
          </a:xfrm>
          <a:prstGeom prst="roundRect">
            <a:avLst>
              <a:gd name="adj" fmla="val 0"/>
            </a:avLst>
          </a:prstGeom>
          <a:solidFill>
            <a:srgbClr val="00529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1016000" y="4699000"/>
            <a:ext cx="482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400" b="1" i="0" u="none" strike="noStrike">
                <a:solidFill>
                  <a:srgbClr val="00529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负面影响：</a:t>
            </a:r>
            <a:r>
              <a:rPr lang="en-US" sz="1300" b="0" i="0" u="none" strike="noStrike">
                <a:solidFill>
                  <a:srgbClr val="44444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限制了AI模型的训练数据多样性与样本规模，导致模型的泛化能力差，无法在跨领域、跨机构的场景下发挥效能。</a:t>
            </a:r>
            <a:endParaRPr lang="en-US" sz="1100"/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7"/>
          <a:srcRect l="2868" r="2868"/>
          <a:stretch>
            <a:fillRect/>
          </a:stretch>
        </p:blipFill>
        <p:spPr>
          <a:xfrm>
            <a:off x="6477000" y="1905000"/>
            <a:ext cx="4953000" cy="2921000"/>
          </a:xfrm>
          <a:prstGeom prst="roundRect">
            <a:avLst>
              <a:gd name="adj" fmla="val 5217"/>
            </a:avLst>
          </a:prstGeom>
          <a:noFill/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</p:pic>
      <p:sp>
        <p:nvSpPr>
          <p:cNvPr id="20" name="AutoShape 20"/>
          <p:cNvSpPr/>
          <p:nvPr/>
        </p:nvSpPr>
        <p:spPr>
          <a:xfrm>
            <a:off x="762000" y="5715000"/>
            <a:ext cx="10668000" cy="889000"/>
          </a:xfrm>
          <a:prstGeom prst="roundRect">
            <a:avLst>
              <a:gd name="adj" fmla="val 11428"/>
            </a:avLst>
          </a:prstGeom>
          <a:solidFill>
            <a:srgbClr val="00529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16000" y="5943600"/>
            <a:ext cx="431800" cy="4318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1651000" y="5842000"/>
            <a:ext cx="9525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核心挑战：</a:t>
            </a:r>
            <a:r>
              <a:rPr lang="en-US" sz="1500" b="0" i="0" u="none" strike="noStrike">
                <a:solidFill>
                  <a:srgbClr val="EBF5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如何在不转移数据所有权和控制权的前提下，打破“数据孤岛”，实现多方数据的高效协同利用？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研究背景与动机：联邦学习中的隐私泄露风险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524000"/>
            <a:ext cx="5334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联邦学习（FL）提出“数据不动，模型动”的协作训练模式，有效打破了行业与机构间的数据孤岛。然而，其分布式训练与梯度共享机制并非绝对安全，在实际部署中仍面临严峻的隐私泄露风险。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2667000"/>
            <a:ext cx="5334000" cy="1206500"/>
          </a:xfrm>
          <a:prstGeom prst="roundRect">
            <a:avLst>
              <a:gd name="adj" fmla="val 0"/>
            </a:avLst>
          </a:prstGeom>
          <a:solidFill>
            <a:srgbClr val="F3F6F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2667000"/>
            <a:ext cx="76200" cy="1206500"/>
          </a:xfrm>
          <a:prstGeom prst="roundRect">
            <a:avLst>
              <a:gd name="adj" fmla="val 0"/>
            </a:avLst>
          </a:prstGeom>
          <a:solidFill>
            <a:srgbClr val="00529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1016000" y="2794000"/>
            <a:ext cx="4826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0529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梯度泄露攻击 (Gradient Leakage)</a:t>
            </a:r>
            <a:endParaRPr lang="en-US" sz="1100"/>
          </a:p>
          <a:p>
            <a:pPr indent="0" algn="l">
              <a:lnSpc>
                <a:spcPct val="108000"/>
              </a:lnSpc>
              <a:spcBef>
                <a:spcPts val="600"/>
              </a:spcBef>
            </a:pPr>
            <a:r>
              <a:rPr lang="en-US" sz="1200" b="0" i="0" u="none" strike="noStrike">
                <a:solidFill>
                  <a:srgbClr val="44444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攻击者可利用反向传播机制，通过分析共享的模型梯度参数，精确推断出训练集中包含的敏感样本特征，甚至重构出原始数据。</a:t>
            </a:r>
            <a:endParaRPr lang="en-US" sz="1200" b="0" i="0" u="none" strike="noStrike">
              <a:solidFill>
                <a:srgbClr val="444444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762000" y="4064000"/>
            <a:ext cx="5334000" cy="1206500"/>
          </a:xfrm>
          <a:prstGeom prst="roundRect">
            <a:avLst>
              <a:gd name="adj" fmla="val 0"/>
            </a:avLst>
          </a:prstGeom>
          <a:solidFill>
            <a:srgbClr val="F3F6F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762000" y="4064000"/>
            <a:ext cx="76200" cy="1206500"/>
          </a:xfrm>
          <a:prstGeom prst="roundRect">
            <a:avLst>
              <a:gd name="adj" fmla="val 0"/>
            </a:avLst>
          </a:prstGeom>
          <a:solidFill>
            <a:srgbClr val="D9534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1016000" y="4191000"/>
            <a:ext cx="4826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D9534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成员推断攻击 (Membership Inference)</a:t>
            </a:r>
            <a:endParaRPr lang="en-US" sz="1100"/>
          </a:p>
          <a:p>
            <a:pPr indent="0" algn="l">
              <a:lnSpc>
                <a:spcPct val="108000"/>
              </a:lnSpc>
              <a:spcBef>
                <a:spcPts val="600"/>
              </a:spcBef>
            </a:pPr>
            <a:r>
              <a:rPr lang="en-US" sz="1200" b="0" i="0" u="none" strike="noStrike">
                <a:solidFill>
                  <a:srgbClr val="44444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恶意攻击者通过观察模型在特定数据点上的行为差异，能够准确判断该数据是否属于训练数据集，从而造成用户身份信息泄露。</a:t>
            </a:r>
            <a:endParaRPr lang="en-US" sz="1200" b="0" i="0" u="none" strike="noStrike">
              <a:solidFill>
                <a:srgbClr val="444444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762000" y="5461000"/>
            <a:ext cx="5334000" cy="1143000"/>
          </a:xfrm>
          <a:prstGeom prst="roundRect">
            <a:avLst>
              <a:gd name="adj" fmla="val 0"/>
            </a:avLst>
          </a:prstGeom>
          <a:solidFill>
            <a:srgbClr val="E8F4F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52500" y="5651500"/>
            <a:ext cx="355600" cy="3556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1524000" y="5613400"/>
            <a:ext cx="4318000" cy="838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0529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核心挑战：</a:t>
            </a:r>
            <a:r>
              <a:rPr lang="en-US" sz="13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联邦学习原生架构缺乏可量化的隐私保证，难以抵御自适应的隐私攻击，需引入更鲁棒的隐私增强技术。</a:t>
            </a:r>
            <a:endParaRPr lang="en-US" sz="1100"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3"/>
          <a:srcRect t="17305" b="17305"/>
          <a:stretch>
            <a:fillRect/>
          </a:stretch>
        </p:blipFill>
        <p:spPr>
          <a:xfrm>
            <a:off x="6477000" y="1651000"/>
            <a:ext cx="4953000" cy="3429000"/>
          </a:xfrm>
          <a:prstGeom prst="rect">
            <a:avLst/>
          </a:prstGeom>
          <a:noFill/>
          <a:ln w="12700" cap="flat" cmpd="sng">
            <a:solidFill>
              <a:srgbClr val="E6E6E6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</p:pic>
      <p:sp>
        <p:nvSpPr>
          <p:cNvPr id="14" name="AutoShape 14"/>
          <p:cNvSpPr/>
          <p:nvPr/>
        </p:nvSpPr>
        <p:spPr>
          <a:xfrm>
            <a:off x="6477000" y="5461000"/>
            <a:ext cx="4953000" cy="1143000"/>
          </a:xfrm>
          <a:prstGeom prst="roundRect">
            <a:avLst>
              <a:gd name="adj" fmla="val 0"/>
            </a:avLst>
          </a:prstGeom>
          <a:solidFill>
            <a:srgbClr val="00529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67500" y="5651500"/>
            <a:ext cx="355600" cy="3556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7239000" y="5613400"/>
            <a:ext cx="3937000" cy="838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本研究核心思路：</a:t>
            </a:r>
            <a:r>
              <a:rPr lang="en-US" sz="1300" b="0" i="0" u="none" strike="noStrike">
                <a:solidFill>
                  <a:srgbClr val="F0F8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将差分隐私技术与联邦学习深度融合，构建兼顾全局模型性能与用户本地数据隐私的安全协作框架。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研究目标与核心内容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651000"/>
            <a:ext cx="5207000" cy="4572000"/>
          </a:xfrm>
          <a:prstGeom prst="roundRect">
            <a:avLst>
              <a:gd name="adj" fmla="val 2222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5207000" cy="889000"/>
          </a:xfrm>
          <a:prstGeom prst="roundRect">
            <a:avLst>
              <a:gd name="adj" fmla="val 11428"/>
            </a:avLst>
          </a:prstGeom>
          <a:solidFill>
            <a:srgbClr val="00529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6000" y="1854200"/>
            <a:ext cx="406400" cy="4064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587500" y="1828800"/>
            <a:ext cx="4064000" cy="533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研究目标 Research Objectives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952500" y="2794000"/>
            <a:ext cx="4826000" cy="1079500"/>
          </a:xfrm>
          <a:prstGeom prst="roundRect">
            <a:avLst>
              <a:gd name="adj" fmla="val 7058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1143000" y="2984500"/>
            <a:ext cx="508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0529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778000" y="2946400"/>
            <a:ext cx="381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构建一个可运行的DP-FL系统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6062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 Flower 联邦学习框架与 Opacus 隐私计算库，实现具备差分隐私保护能力的原型系统。</a:t>
            </a:r>
            <a:endParaRPr lang="en-US" sz="1300" b="0" i="0" u="none" strike="noStrike">
              <a:solidFill>
                <a:srgbClr val="6062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952500" y="3937000"/>
            <a:ext cx="4826000" cy="1079500"/>
          </a:xfrm>
          <a:prstGeom prst="roundRect">
            <a:avLst>
              <a:gd name="adj" fmla="val 7058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1143000" y="4127500"/>
            <a:ext cx="508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0529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1778000" y="4089400"/>
            <a:ext cx="381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系统评估隐私-效用权衡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6062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定量分析不同隐私预算（ε值）的设置，对模型最终准确率的具体影响，寻找平衡点。</a:t>
            </a:r>
            <a:endParaRPr lang="en-US" sz="1300" b="0" i="0" u="none" strike="noStrike">
              <a:solidFill>
                <a:srgbClr val="6062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952500" y="5080000"/>
            <a:ext cx="4826000" cy="1079500"/>
          </a:xfrm>
          <a:prstGeom prst="roundRect">
            <a:avLst>
              <a:gd name="adj" fmla="val 7058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1143000" y="5270500"/>
            <a:ext cx="508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0529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1778000" y="5232400"/>
            <a:ext cx="381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探索关键参数的影响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6062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深入研究梯度裁剪阈值、噪声尺度等核心超参数，对模型收敛速度及最终性能的影响。</a:t>
            </a:r>
            <a:endParaRPr lang="en-US" sz="1300" b="0" i="0" u="none" strike="noStrike">
              <a:solidFill>
                <a:srgbClr val="6062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6" name="AutoShape 16"/>
          <p:cNvSpPr/>
          <p:nvPr/>
        </p:nvSpPr>
        <p:spPr>
          <a:xfrm>
            <a:off x="6223000" y="1651000"/>
            <a:ext cx="5207000" cy="4572000"/>
          </a:xfrm>
          <a:prstGeom prst="roundRect">
            <a:avLst>
              <a:gd name="adj" fmla="val 2222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6223000" y="1651000"/>
            <a:ext cx="5207000" cy="889000"/>
          </a:xfrm>
          <a:prstGeom prst="roundRect">
            <a:avLst>
              <a:gd name="adj" fmla="val 11428"/>
            </a:avLst>
          </a:prstGeom>
          <a:solidFill>
            <a:srgbClr val="00529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77000" y="1854200"/>
            <a:ext cx="406400" cy="4064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7112000" y="1828800"/>
            <a:ext cx="4064000" cy="533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核心内容 Core Research Content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6413500" y="2794000"/>
            <a:ext cx="4826000" cy="1079500"/>
          </a:xfrm>
          <a:prstGeom prst="roundRect">
            <a:avLst>
              <a:gd name="adj" fmla="val 7058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6604000" y="2984500"/>
            <a:ext cx="508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0529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7239000" y="2946400"/>
            <a:ext cx="381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DP-FL 框架设计与实现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6062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搭建联邦学习整体架构，集成 Opacus 隐私计算库，在聚合和更新阶段完整实现隐私保护机制。</a:t>
            </a:r>
            <a:endParaRPr lang="en-US" sz="1300" b="0" i="0" u="none" strike="noStrike">
              <a:solidFill>
                <a:srgbClr val="6062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3" name="AutoShape 23"/>
          <p:cNvSpPr/>
          <p:nvPr/>
        </p:nvSpPr>
        <p:spPr>
          <a:xfrm>
            <a:off x="6413500" y="3949700"/>
            <a:ext cx="4826000" cy="1079500"/>
          </a:xfrm>
          <a:prstGeom prst="roundRect">
            <a:avLst>
              <a:gd name="adj" fmla="val 7058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4" name="AutoShape 24"/>
          <p:cNvSpPr/>
          <p:nvPr/>
        </p:nvSpPr>
        <p:spPr>
          <a:xfrm>
            <a:off x="6604000" y="4140200"/>
            <a:ext cx="508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0529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7239000" y="4102100"/>
            <a:ext cx="381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实验设计与性能评估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6062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分别在 MNIST 手写数字与 CIFAR-10 图像数据集上进行对比实验，验证方案的有效性与鲁棒性。</a:t>
            </a:r>
            <a:endParaRPr lang="en-US" sz="1300" b="0" i="0" u="none" strike="noStrike">
              <a:solidFill>
                <a:srgbClr val="6062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6" name="AutoShape 26"/>
          <p:cNvSpPr/>
          <p:nvPr/>
        </p:nvSpPr>
        <p:spPr>
          <a:xfrm>
            <a:off x="6413500" y="5080000"/>
            <a:ext cx="4826000" cy="1079500"/>
          </a:xfrm>
          <a:prstGeom prst="roundRect">
            <a:avLst>
              <a:gd name="adj" fmla="val 7058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7" name="AutoShape 27"/>
          <p:cNvSpPr/>
          <p:nvPr/>
        </p:nvSpPr>
        <p:spPr>
          <a:xfrm>
            <a:off x="6604000" y="5270500"/>
            <a:ext cx="508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0529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7239000" y="5232400"/>
            <a:ext cx="381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结果分析与优化策略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6062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分析噪声对模型性能的具体影响，并探讨在 Non-IID 非独立同分布数据场景下的性能瓶颈及优化策略。</a:t>
            </a:r>
            <a:endParaRPr lang="en-US" sz="1300" b="0" i="0" u="none" strike="noStrike">
              <a:solidFill>
                <a:srgbClr val="6062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技术方案与实现路径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651000"/>
            <a:ext cx="5207000" cy="4572000"/>
          </a:xfrm>
          <a:prstGeom prst="roundRect">
            <a:avLst>
              <a:gd name="adj" fmla="val 3333"/>
            </a:avLst>
          </a:prstGeom>
          <a:solidFill>
            <a:srgbClr val="F8FAFC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1016000" y="1905000"/>
            <a:ext cx="469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00529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系统架构：中心化联邦学习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016000" y="2413000"/>
            <a:ext cx="469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采用“中央服务器 + 多客户端”的经典架构，平衡模型性能与数据隐私保护需求。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3175000"/>
            <a:ext cx="4699000" cy="1143000"/>
          </a:xfrm>
          <a:prstGeom prst="roundRect">
            <a:avLst>
              <a:gd name="adj" fmla="val 8888"/>
            </a:avLst>
          </a:prstGeom>
          <a:solidFill>
            <a:srgbClr val="EFF6FF">
              <a:alpha val="100000"/>
            </a:srgbClr>
          </a:solidFill>
          <a:ln w="12700" cap="flat" cmpd="sng">
            <a:solidFill>
              <a:srgbClr val="BFDBFE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06500" y="3429000"/>
            <a:ext cx="609600" cy="6096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2032000" y="3302000"/>
            <a:ext cx="3429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F17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中央服务器 (Server)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核心职责：全局模型初始化、参数下发、聚合更新模型 (FedAvg)。</a:t>
            </a:r>
            <a:endParaRPr lang="en-US" sz="1200" b="0" i="0" u="none" strike="noStrike">
              <a:solidFill>
                <a:srgbClr val="47556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1016000" y="4572000"/>
            <a:ext cx="4699000" cy="1397000"/>
          </a:xfrm>
          <a:prstGeom prst="roundRect">
            <a:avLst>
              <a:gd name="adj" fmla="val 7272"/>
            </a:avLst>
          </a:prstGeom>
          <a:solidFill>
            <a:srgbClr val="F0FDF4">
              <a:alpha val="100000"/>
            </a:srgbClr>
          </a:solidFill>
          <a:ln w="12700" cap="flat" cmpd="sng">
            <a:solidFill>
              <a:srgbClr val="BBF7D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06500" y="4889500"/>
            <a:ext cx="609600" cy="6096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2032000" y="4699000"/>
            <a:ext cx="3429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F17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本地客户端 (Client)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核心职责：利用本地数据训练模型。在参数上传前通过“梯度裁剪 + 添加高斯噪声”的组合策略实现差分隐私保护。</a:t>
            </a:r>
            <a:endParaRPr lang="en-US" sz="1200" b="0" i="0" u="none" strike="noStrike">
              <a:solidFill>
                <a:srgbClr val="47556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6223000" y="1651000"/>
            <a:ext cx="5207000" cy="4572000"/>
          </a:xfrm>
          <a:prstGeom prst="roundRect">
            <a:avLst>
              <a:gd name="adj" fmla="val 3333"/>
            </a:avLst>
          </a:prstGeom>
          <a:solidFill>
            <a:srgbClr val="F8FAFC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6477000" y="1905000"/>
            <a:ext cx="469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00529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关键技术栈选型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6477000" y="2540000"/>
            <a:ext cx="1524000" cy="20320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5"/>
          <a:srcRect t="5585" b="5585"/>
          <a:stretch>
            <a:fillRect/>
          </a:stretch>
        </p:blipFill>
        <p:spPr>
          <a:xfrm>
            <a:off x="6667500" y="2730500"/>
            <a:ext cx="1143000" cy="762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6" name="AutoShape 16"/>
          <p:cNvSpPr/>
          <p:nvPr/>
        </p:nvSpPr>
        <p:spPr>
          <a:xfrm>
            <a:off x="6540500" y="3683000"/>
            <a:ext cx="1397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0F17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Flower</a:t>
            </a:r>
            <a:endParaRPr lang="en-US" sz="1100"/>
          </a:p>
          <a:p>
            <a:pPr indent="0" algn="ctr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轻量级联邦学习框架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100" b="0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支持多语言与异构设备</a:t>
            </a:r>
            <a:endParaRPr lang="en-US" sz="1100" b="0" i="0" u="none" strike="noStrike">
              <a:solidFill>
                <a:srgbClr val="64748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8064500" y="2540000"/>
            <a:ext cx="1524000" cy="20320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6"/>
          <a:srcRect t="16666" b="16666"/>
          <a:stretch>
            <a:fillRect/>
          </a:stretch>
        </p:blipFill>
        <p:spPr>
          <a:xfrm>
            <a:off x="8255000" y="2730500"/>
            <a:ext cx="1143000" cy="762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9" name="AutoShape 19"/>
          <p:cNvSpPr/>
          <p:nvPr/>
        </p:nvSpPr>
        <p:spPr>
          <a:xfrm>
            <a:off x="8128000" y="3683000"/>
            <a:ext cx="1397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0F17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PyTorch</a:t>
            </a:r>
            <a:endParaRPr lang="en-US" sz="1100"/>
          </a:p>
          <a:p>
            <a:pPr indent="0" algn="ctr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主流深度学习框架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100" b="0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动态图模式易调试</a:t>
            </a:r>
            <a:endParaRPr lang="en-US" sz="1100" b="0" i="0" u="none" strike="noStrike">
              <a:solidFill>
                <a:srgbClr val="64748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0" name="AutoShape 20"/>
          <p:cNvSpPr/>
          <p:nvPr/>
        </p:nvSpPr>
        <p:spPr>
          <a:xfrm>
            <a:off x="9652000" y="2540000"/>
            <a:ext cx="1524000" cy="20320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7"/>
          <a:srcRect l="21138" r="21138"/>
          <a:stretch>
            <a:fillRect/>
          </a:stretch>
        </p:blipFill>
        <p:spPr>
          <a:xfrm>
            <a:off x="9779000" y="2730500"/>
            <a:ext cx="1270000" cy="762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22" name="AutoShape 22"/>
          <p:cNvSpPr/>
          <p:nvPr/>
        </p:nvSpPr>
        <p:spPr>
          <a:xfrm>
            <a:off x="9715500" y="3683000"/>
            <a:ext cx="1397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0F17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Opacus</a:t>
            </a:r>
            <a:endParaRPr lang="en-US" sz="1100"/>
          </a:p>
          <a:p>
            <a:pPr indent="0" algn="ctr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Meta开源差分隐私库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100" b="0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专为PyTorch无缝集成</a:t>
            </a:r>
            <a:endParaRPr lang="en-US" sz="1100" b="0" i="0" u="none" strike="noStrike">
              <a:solidFill>
                <a:srgbClr val="64748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3" name="AutoShape 23"/>
          <p:cNvSpPr/>
          <p:nvPr/>
        </p:nvSpPr>
        <p:spPr>
          <a:xfrm>
            <a:off x="6477000" y="4826000"/>
            <a:ext cx="4699000" cy="1143000"/>
          </a:xfrm>
          <a:prstGeom prst="roundRect">
            <a:avLst>
              <a:gd name="adj" fmla="val 8888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667500" y="5080000"/>
            <a:ext cx="635000" cy="635000"/>
          </a:xfrm>
          <a:prstGeom prst="rect">
            <a:avLst/>
          </a:prstGeom>
        </p:spPr>
      </p:pic>
      <p:sp>
        <p:nvSpPr>
          <p:cNvPr id="25" name="AutoShape 25"/>
          <p:cNvSpPr/>
          <p:nvPr/>
        </p:nvSpPr>
        <p:spPr>
          <a:xfrm>
            <a:off x="7493000" y="5016500"/>
            <a:ext cx="355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0F17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基准实验数据集 (Benchmarks)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手写数字识别：MNIST • 图像分类：CIFAR-10</a:t>
            </a:r>
            <a:endParaRPr lang="en-US" sz="1200" b="0" i="0" u="none" strike="noStrike">
              <a:solidFill>
                <a:srgbClr val="47556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 当前进展与后续计划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651000"/>
            <a:ext cx="5207000" cy="4572000"/>
          </a:xfrm>
          <a:prstGeom prst="roundRect">
            <a:avLst>
              <a:gd name="adj" fmla="val 3333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1016000" y="1905000"/>
            <a:ext cx="469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00529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当前进展 Current Progress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016000" y="2667000"/>
            <a:ext cx="4699000" cy="660400"/>
          </a:xfrm>
          <a:prstGeom prst="roundRect">
            <a:avLst>
              <a:gd name="adj" fmla="val 15384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06500" y="2806700"/>
            <a:ext cx="355600" cy="3556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778000" y="2806700"/>
            <a:ext cx="177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文献调研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3937000" y="2806700"/>
            <a:ext cx="1270000" cy="381000"/>
          </a:xfrm>
          <a:prstGeom prst="roundRect">
            <a:avLst>
              <a:gd name="adj" fmla="val 53333"/>
            </a:avLst>
          </a:prstGeom>
          <a:solidFill>
            <a:srgbClr val="ECFDF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3937000" y="2844800"/>
            <a:ext cx="127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065F4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✅ 已完成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1016000" y="3556000"/>
            <a:ext cx="4699000" cy="660400"/>
          </a:xfrm>
          <a:prstGeom prst="roundRect">
            <a:avLst>
              <a:gd name="adj" fmla="val 15384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06500" y="3695700"/>
            <a:ext cx="355600" cy="3556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1778000" y="3695700"/>
            <a:ext cx="177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技术栈选型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3937000" y="3695700"/>
            <a:ext cx="1270000" cy="381000"/>
          </a:xfrm>
          <a:prstGeom prst="roundRect">
            <a:avLst>
              <a:gd name="adj" fmla="val 53333"/>
            </a:avLst>
          </a:prstGeom>
          <a:solidFill>
            <a:srgbClr val="ECFDF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3937000" y="3733800"/>
            <a:ext cx="127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065F4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✅ 已确定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1016000" y="4445000"/>
            <a:ext cx="4699000" cy="660400"/>
          </a:xfrm>
          <a:prstGeom prst="roundRect">
            <a:avLst>
              <a:gd name="adj" fmla="val 15384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06500" y="4584700"/>
            <a:ext cx="355600" cy="3556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1778000" y="4584700"/>
            <a:ext cx="177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开发环境准备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3937000" y="4584700"/>
            <a:ext cx="1270000" cy="381000"/>
          </a:xfrm>
          <a:prstGeom prst="roundRect">
            <a:avLst>
              <a:gd name="adj" fmla="val 53333"/>
            </a:avLst>
          </a:prstGeom>
          <a:solidFill>
            <a:srgbClr val="ECFDF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3937000" y="4622800"/>
            <a:ext cx="127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065F4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✅ 已就绪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1016000" y="5334000"/>
            <a:ext cx="2260600" cy="762000"/>
          </a:xfrm>
          <a:prstGeom prst="roundRect">
            <a:avLst>
              <a:gd name="adj" fmla="val 13333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43000" y="5511800"/>
            <a:ext cx="279400" cy="2794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1524000" y="5461000"/>
            <a:ext cx="1651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代码实现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D9770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🔄 即将开始</a:t>
            </a:r>
            <a:endParaRPr lang="en-US" sz="1200" b="0" i="0" u="none" strike="noStrike">
              <a:solidFill>
                <a:srgbClr val="D9770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3" name="AutoShape 23"/>
          <p:cNvSpPr/>
          <p:nvPr/>
        </p:nvSpPr>
        <p:spPr>
          <a:xfrm>
            <a:off x="3454400" y="5334000"/>
            <a:ext cx="2260600" cy="762000"/>
          </a:xfrm>
          <a:prstGeom prst="roundRect">
            <a:avLst>
              <a:gd name="adj" fmla="val 13333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581400" y="5511800"/>
            <a:ext cx="279400" cy="279400"/>
          </a:xfrm>
          <a:prstGeom prst="rect">
            <a:avLst/>
          </a:prstGeom>
        </p:spPr>
      </p:pic>
      <p:sp>
        <p:nvSpPr>
          <p:cNvPr id="25" name="AutoShape 25"/>
          <p:cNvSpPr/>
          <p:nvPr/>
        </p:nvSpPr>
        <p:spPr>
          <a:xfrm>
            <a:off x="3962400" y="5461000"/>
            <a:ext cx="1651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实验评估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⏳ 计划中</a:t>
            </a:r>
            <a:endParaRPr lang="en-US" sz="1200" b="0" i="0" u="none" strike="noStrike">
              <a:solidFill>
                <a:srgbClr val="2563E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6" name="AutoShape 26"/>
          <p:cNvSpPr/>
          <p:nvPr/>
        </p:nvSpPr>
        <p:spPr>
          <a:xfrm>
            <a:off x="6223000" y="1651000"/>
            <a:ext cx="5207000" cy="4572000"/>
          </a:xfrm>
          <a:prstGeom prst="roundRect">
            <a:avLst>
              <a:gd name="adj" fmla="val 3333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7" name="AutoShape 27"/>
          <p:cNvSpPr/>
          <p:nvPr/>
        </p:nvSpPr>
        <p:spPr>
          <a:xfrm>
            <a:off x="6477000" y="1905000"/>
            <a:ext cx="469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00529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后续计划 Future Plan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6477000" y="2667000"/>
            <a:ext cx="4699000" cy="1079500"/>
          </a:xfrm>
          <a:prstGeom prst="roundRect">
            <a:avLst>
              <a:gd name="adj" fmla="val 9411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9" name="AutoShape 29"/>
          <p:cNvSpPr/>
          <p:nvPr/>
        </p:nvSpPr>
        <p:spPr>
          <a:xfrm>
            <a:off x="6604000" y="2794000"/>
            <a:ext cx="889000" cy="825500"/>
          </a:xfrm>
          <a:prstGeom prst="roundRect">
            <a:avLst>
              <a:gd name="adj" fmla="val 12307"/>
            </a:avLst>
          </a:prstGeom>
          <a:solidFill>
            <a:srgbClr val="00529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0" name="AutoShape 30"/>
          <p:cNvSpPr/>
          <p:nvPr/>
        </p:nvSpPr>
        <p:spPr>
          <a:xfrm>
            <a:off x="6604000" y="2984500"/>
            <a:ext cx="889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第1周</a:t>
            </a:r>
            <a:endParaRPr lang="en-US" sz="1100"/>
          </a:p>
        </p:txBody>
      </p:sp>
      <p:sp>
        <p:nvSpPr>
          <p:cNvPr id="31" name="AutoShape 31"/>
          <p:cNvSpPr/>
          <p:nvPr/>
        </p:nvSpPr>
        <p:spPr>
          <a:xfrm>
            <a:off x="7747000" y="2819400"/>
            <a:ext cx="330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搭建FL基础框架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完成联邦学习(FL)基础架构的搭建与核心通信机制实现，确保节点连通性。</a:t>
            </a:r>
            <a:endParaRPr lang="en-US" sz="13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2" name="AutoShape 32"/>
          <p:cNvSpPr/>
          <p:nvPr/>
        </p:nvSpPr>
        <p:spPr>
          <a:xfrm>
            <a:off x="6477000" y="3937000"/>
            <a:ext cx="4699000" cy="1079500"/>
          </a:xfrm>
          <a:prstGeom prst="roundRect">
            <a:avLst>
              <a:gd name="adj" fmla="val 9411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3" name="AutoShape 33"/>
          <p:cNvSpPr/>
          <p:nvPr/>
        </p:nvSpPr>
        <p:spPr>
          <a:xfrm>
            <a:off x="6604000" y="4064000"/>
            <a:ext cx="889000" cy="825500"/>
          </a:xfrm>
          <a:prstGeom prst="roundRect">
            <a:avLst>
              <a:gd name="adj" fmla="val 12307"/>
            </a:avLst>
          </a:prstGeom>
          <a:solidFill>
            <a:srgbClr val="00529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4" name="AutoShape 34"/>
          <p:cNvSpPr/>
          <p:nvPr/>
        </p:nvSpPr>
        <p:spPr>
          <a:xfrm>
            <a:off x="6604000" y="4254500"/>
            <a:ext cx="889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第2周</a:t>
            </a:r>
            <a:endParaRPr lang="en-US" sz="1100"/>
          </a:p>
        </p:txBody>
      </p:sp>
      <p:sp>
        <p:nvSpPr>
          <p:cNvPr id="35" name="AutoShape 35"/>
          <p:cNvSpPr/>
          <p:nvPr/>
        </p:nvSpPr>
        <p:spPr>
          <a:xfrm>
            <a:off x="7747000" y="4089400"/>
            <a:ext cx="330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集成差分隐私模块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引入差分隐私保护机制，在聚合环节实现数据扰动与拉普拉斯噪声添加算法。</a:t>
            </a:r>
            <a:endParaRPr lang="en-US" sz="13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6" name="AutoShape 36"/>
          <p:cNvSpPr/>
          <p:nvPr/>
        </p:nvSpPr>
        <p:spPr>
          <a:xfrm>
            <a:off x="6477000" y="5207000"/>
            <a:ext cx="4699000" cy="1016000"/>
          </a:xfrm>
          <a:prstGeom prst="roundRect">
            <a:avLst>
              <a:gd name="adj" fmla="val 100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7" name="AutoShape 37"/>
          <p:cNvSpPr/>
          <p:nvPr/>
        </p:nvSpPr>
        <p:spPr>
          <a:xfrm>
            <a:off x="6604000" y="5334000"/>
            <a:ext cx="889000" cy="762000"/>
          </a:xfrm>
          <a:prstGeom prst="roundRect">
            <a:avLst>
              <a:gd name="adj" fmla="val 13333"/>
            </a:avLst>
          </a:prstGeom>
          <a:solidFill>
            <a:srgbClr val="00529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8" name="AutoShape 38"/>
          <p:cNvSpPr/>
          <p:nvPr/>
        </p:nvSpPr>
        <p:spPr>
          <a:xfrm>
            <a:off x="6604000" y="5486400"/>
            <a:ext cx="889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第3周</a:t>
            </a:r>
            <a:endParaRPr lang="en-US" sz="1100"/>
          </a:p>
        </p:txBody>
      </p:sp>
      <p:sp>
        <p:nvSpPr>
          <p:cNvPr id="39" name="AutoShape 39"/>
          <p:cNvSpPr/>
          <p:nvPr/>
        </p:nvSpPr>
        <p:spPr>
          <a:xfrm>
            <a:off x="7747000" y="5359400"/>
            <a:ext cx="330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多数据集实验与报告撰写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在MNIST/CIFAR-10等多数据集开展对比实验，并完成最终的研究报告撰写。</a:t>
            </a:r>
            <a:endParaRPr lang="en-US" sz="13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635000"/>
            <a:ext cx="1219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致谢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3575050" y="2108200"/>
            <a:ext cx="5461000" cy="4064000"/>
          </a:xfrm>
          <a:prstGeom prst="roundRect">
            <a:avLst>
              <a:gd name="adj" fmla="val 3750"/>
            </a:avLst>
          </a:prstGeom>
          <a:solidFill>
            <a:srgbClr val="F8FAFC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3575050" y="2108200"/>
            <a:ext cx="5461000" cy="76200"/>
          </a:xfrm>
          <a:prstGeom prst="roundRect">
            <a:avLst>
              <a:gd name="adj" fmla="val 0"/>
            </a:avLst>
          </a:prstGeom>
          <a:solidFill>
            <a:srgbClr val="00529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645150" y="2743200"/>
            <a:ext cx="1066800" cy="10668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3829050" y="4140200"/>
            <a:ext cx="4953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感谢各位老师和同学的聆听！</a:t>
            </a:r>
            <a:endParaRPr lang="en-US" sz="1100"/>
          </a:p>
          <a:p>
            <a:pPr indent="0" algn="ctr">
              <a:lnSpc>
                <a:spcPct val="125000"/>
              </a:lnSpc>
              <a:spcBef>
                <a:spcPts val="2000"/>
              </a:spcBef>
            </a:pPr>
            <a:r>
              <a:rPr lang="en-US" sz="1600" b="0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恳请批评与指正</a:t>
            </a:r>
            <a:endParaRPr lang="en-US" sz="1600" b="0" i="0" u="none" strike="noStrike">
              <a:solidFill>
                <a:srgbClr val="64748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25.8,&quot;left&quot;:60,&quot;top&quot;:129.75,&quot;width&quot;:875.5}"/>
</p:tagLst>
</file>

<file path=ppt/tags/tag2.xml><?xml version="1.0" encoding="utf-8"?>
<p:tagLst xmlns:p="http://schemas.openxmlformats.org/presentationml/2006/main">
  <p:tag name="KSO_WM_DIAGRAM_VIRTUALLY_FRAME" val="{&quot;height&quot;:325.8,&quot;left&quot;:60,&quot;top&quot;:129.75,&quot;width&quot;:875.5}"/>
</p:tagLst>
</file>

<file path=ppt/tags/tag3.xml><?xml version="1.0" encoding="utf-8"?>
<p:tagLst xmlns:p="http://schemas.openxmlformats.org/presentationml/2006/main">
  <p:tag name="KSO_WM_DIAGRAM_VIRTUALLY_FRAME" val="{&quot;height&quot;:325.8,&quot;left&quot;:60,&quot;top&quot;:129.75,&quot;width&quot;:875.5}"/>
</p:tagLst>
</file>

<file path=ppt/tags/tag4.xml><?xml version="1.0" encoding="utf-8"?>
<p:tagLst xmlns:p="http://schemas.openxmlformats.org/presentationml/2006/main">
  <p:tag name="KSO_WM_DIAGRAM_VIRTUALLY_FRAME" val="{&quot;height&quot;:325.8,&quot;left&quot;:60,&quot;top&quot;:129.75,&quot;width&quot;:875.5}"/>
</p:tagLst>
</file>

<file path=ppt/tags/tag5.xml><?xml version="1.0" encoding="utf-8"?>
<p:tagLst xmlns:p="http://schemas.openxmlformats.org/presentationml/2006/main">
  <p:tag name="KSO_WM_DIAGRAM_VIRTUALLY_FRAME" val="{&quot;height&quot;:325.8,&quot;left&quot;:60,&quot;top&quot;:129.75,&quot;width&quot;:875.5}"/>
</p:tagLst>
</file>

<file path=ppt/tags/tag6.xml><?xml version="1.0" encoding="utf-8"?>
<p:tagLst xmlns:p="http://schemas.openxmlformats.org/presentationml/2006/main">
  <p:tag name="KSO_WM_DIAGRAM_VIRTUALLY_FRAME" val="{&quot;height&quot;:325.8,&quot;left&quot;:60,&quot;top&quot;:129.75,&quot;width&quot;:875.5}"/>
</p:tagLst>
</file>

<file path=ppt/tags/tag7.xml><?xml version="1.0" encoding="utf-8"?>
<p:tagLst xmlns:p="http://schemas.openxmlformats.org/presentationml/2006/main">
  <p:tag name="KSO_WM_DIAGRAM_VIRTUALLY_FRAME" val="{&quot;height&quot;:325.8,&quot;left&quot;:60,&quot;top&quot;:129.75,&quot;width&quot;:875.5}"/>
</p:tagLst>
</file>

<file path=ppt/tags/tag8.xml><?xml version="1.0" encoding="utf-8"?>
<p:tagLst xmlns:p="http://schemas.openxmlformats.org/presentationml/2006/main">
  <p:tag name="KSO_WM_DIAGRAM_VIRTUALLY_FRAME" val="{&quot;height&quot;:325.8,&quot;left&quot;:60,&quot;top&quot;:129.75,&quot;width&quot;:875.5}"/>
</p:tagLst>
</file>

<file path=ppt/tags/tag9.xml><?xml version="1.0" encoding="utf-8"?>
<p:tagLst xmlns:p="http://schemas.openxmlformats.org/presentationml/2006/main">
  <p:tag name="KSO_WM_DIAGRAM_VIRTUALLY_FRAME" val="{&quot;height&quot;:325.8,&quot;left&quot;:60,&quot;top&quot;:129.75,&quot;width&quot;:875.5}"/>
</p:tagLst>
</file>

<file path=ppt/tags/tag10.xml><?xml version="1.0" encoding="utf-8"?>
<p:tagLst xmlns:p="http://schemas.openxmlformats.org/presentationml/2006/main">
  <p:tag name="KSO_WM_DIAGRAM_VIRTUALLY_FRAME" val="{&quot;height&quot;:325.8,&quot;left&quot;:60,&quot;top&quot;:129.75,&quot;width&quot;:875.5}"/>
</p:tagLst>
</file>

<file path=ppt/tags/tag11.xml><?xml version="1.0" encoding="utf-8"?>
<p:tagLst xmlns:p="http://schemas.openxmlformats.org/presentationml/2006/main">
  <p:tag name="KSO_WM_DIAGRAM_VIRTUALLY_FRAME" val="{&quot;height&quot;:325.8,&quot;left&quot;:60,&quot;top&quot;:129.75,&quot;width&quot;:875.5}"/>
</p:tagLst>
</file>

<file path=ppt/tags/tag12.xml><?xml version="1.0" encoding="utf-8"?>
<p:tagLst xmlns:p="http://schemas.openxmlformats.org/presentationml/2006/main">
  <p:tag name="KSO_WM_DIAGRAM_VIRTUALLY_FRAME" val="{&quot;height&quot;:325.8,&quot;left&quot;:60,&quot;top&quot;:129.75,&quot;width&quot;:875.5}"/>
</p:tagLst>
</file>

<file path=ppt/tags/tag13.xml><?xml version="1.0" encoding="utf-8"?>
<p:tagLst xmlns:p="http://schemas.openxmlformats.org/presentationml/2006/main">
  <p:tag name="KSO_WM_DIAGRAM_VIRTUALLY_FRAME" val="{&quot;height&quot;:325.8,&quot;left&quot;:60,&quot;top&quot;:129.75,&quot;width&quot;:875.5}"/>
</p:tagLst>
</file>

<file path=ppt/tags/tag14.xml><?xml version="1.0" encoding="utf-8"?>
<p:tagLst xmlns:p="http://schemas.openxmlformats.org/presentationml/2006/main">
  <p:tag name="KSO_WM_DIAGRAM_VIRTUALLY_FRAME" val="{&quot;height&quot;:325.8,&quot;left&quot;:60,&quot;top&quot;:129.75,&quot;width&quot;:875.5}"/>
</p:tagLst>
</file>

<file path=ppt/tags/tag15.xml><?xml version="1.0" encoding="utf-8"?>
<p:tagLst xmlns:p="http://schemas.openxmlformats.org/presentationml/2006/main">
  <p:tag name="KSO_WM_DIAGRAM_VIRTUALLY_FRAME" val="{&quot;height&quot;:325.8,&quot;left&quot;:60,&quot;top&quot;:129.75,&quot;width&quot;:875.5}"/>
</p:tagLst>
</file>

<file path=ppt/tags/tag16.xml><?xml version="1.0" encoding="utf-8"?>
<p:tagLst xmlns:p="http://schemas.openxmlformats.org/presentationml/2006/main">
  <p:tag name="KSO_WM_DIAGRAM_VIRTUALLY_FRAME" val="{&quot;height&quot;:325.8,&quot;left&quot;:60,&quot;top&quot;:129.75,&quot;width&quot;:875.5}"/>
</p:tagLst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1784</Words>
  <Application>WPS 演示</Application>
  <PresentationFormat/>
  <Paragraphs>165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8</vt:i4>
      </vt:variant>
    </vt:vector>
  </HeadingPairs>
  <TitlesOfParts>
    <vt:vector size="17" baseType="lpstr">
      <vt:lpstr>Arial</vt:lpstr>
      <vt:lpstr>宋体</vt:lpstr>
      <vt:lpstr>Wingdings</vt:lpstr>
      <vt:lpstr>Arial</vt:lpstr>
      <vt:lpstr>Noto Sans SC</vt:lpstr>
      <vt:lpstr>微软雅黑</vt:lpstr>
      <vt:lpstr>Arial Unicode MS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18551713598</cp:lastModifiedBy>
  <cp:revision>13</cp:revision>
  <dcterms:created xsi:type="dcterms:W3CDTF">2026-05-08T09:52:00Z</dcterms:created>
  <dcterms:modified xsi:type="dcterms:W3CDTF">2026-05-08T11:04:32Z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2E2C0442ACB648C9B7EE68F7007111CC_12</vt:lpwstr>
  </property>
</Properties>
</file>